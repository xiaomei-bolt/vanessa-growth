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90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C5F8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2C5F8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7BC67E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5486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🥍 ScOOP Ball 勺球课程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小学三年级·体育拓展课教学方案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2976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6天（每日45分钟）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42976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891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小学三年级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9768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4944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汇报人：小美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课程基础概况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926080" cy="347472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6天递进课程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─ 认识器材·个人探索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075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─ 基础抛接·单人练习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5117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505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─ 双人配合·传接入门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8094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2935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─ 团队协作·3v3对战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1071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3364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─ 战术配合·模拟比赛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4048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─ 成果展演·结课仪式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3657600" y="1097280"/>
            <a:ext cx="1691640" cy="21945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1234440"/>
            <a:ext cx="502920" cy="5029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74904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技能目标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3749040" y="22402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掌握勺球抛、接、跑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基本动作要领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532120" y="1097280"/>
            <a:ext cx="1691640" cy="2194560"/>
          </a:xfrm>
          <a:prstGeom prst="rect">
            <a:avLst/>
          </a:prstGeom>
          <a:solidFill>
            <a:srgbClr val="7BC67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1234440"/>
            <a:ext cx="502920" cy="5029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62356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品格目标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5623560" y="22402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培养合作精神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与公平竞争意识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7406640" y="1097280"/>
            <a:ext cx="1691640" cy="2194560"/>
          </a:xfrm>
          <a:prstGeom prst="rect">
            <a:avLst/>
          </a:prstGeom>
          <a:solidFill>
            <a:srgbClr val="FF9F4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1234440"/>
            <a:ext cx="502920" cy="5029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49808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情感目标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7498080" y="22402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体验运动乐趣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建立体育自信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课程设计思路：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914400" y="4023360"/>
            <a:ext cx="128016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3" name="Text 22"/>
          <p:cNvSpPr/>
          <p:nvPr/>
        </p:nvSpPr>
        <p:spPr>
          <a:xfrm>
            <a:off x="9144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单人探索</a:t>
            </a:r>
            <a:endParaRPr lang="en-US" sz="11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0" y="4114800"/>
            <a:ext cx="320040" cy="32004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2971800" y="4023360"/>
            <a:ext cx="128016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6" name="Text 24"/>
          <p:cNvSpPr/>
          <p:nvPr/>
        </p:nvSpPr>
        <p:spPr>
          <a:xfrm>
            <a:off x="29718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双人配合</a:t>
            </a:r>
            <a:endParaRPr lang="en-US" sz="11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4114800"/>
            <a:ext cx="320040" cy="320040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5029200" y="4023360"/>
            <a:ext cx="128016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9" name="Text 26"/>
          <p:cNvSpPr/>
          <p:nvPr/>
        </p:nvSpPr>
        <p:spPr>
          <a:xfrm>
            <a:off x="50292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3v3对战</a:t>
            </a:r>
            <a:endParaRPr lang="en-US" sz="11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114800"/>
            <a:ext cx="320040" cy="32004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7086600" y="4023360"/>
            <a:ext cx="1280160" cy="502920"/>
          </a:xfrm>
          <a:prstGeom prst="ellipse">
            <a:avLst/>
          </a:prstGeom>
          <a:solidFill>
            <a:srgbClr val="7BC67E"/>
          </a:solidFill>
          <a:ln/>
        </p:spPr>
      </p:sp>
      <p:sp>
        <p:nvSpPr>
          <p:cNvPr id="42" name="Text 28"/>
          <p:cNvSpPr/>
          <p:nvPr/>
        </p:nvSpPr>
        <p:spPr>
          <a:xfrm>
            <a:off x="70866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成果展演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🥍 器材介绍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56032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🥍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01168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长柄接球勺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轻质塑料材质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长柄设计便于操控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勺面弧形兜球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560320" cy="256032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⚪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657600" y="2194560"/>
            <a:ext cx="2011680" cy="41148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轻质软球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EVA发泡材质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直径约7cm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安全柔软不掉毛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256032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🪣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6492240" y="2194560"/>
            <a:ext cx="2011680" cy="41148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得分桶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塑料圆桶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直径约30cm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投中即得分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FFD93D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069080"/>
            <a:ext cx="109728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认识器材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4114800"/>
            <a:ext cx="274320" cy="2743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560320" y="4069080"/>
            <a:ext cx="109728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1"/>
          <p:cNvSpPr/>
          <p:nvPr/>
        </p:nvSpPr>
        <p:spPr>
          <a:xfrm>
            <a:off x="256032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个人探索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114800"/>
            <a:ext cx="274320" cy="2743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206240" y="4069080"/>
            <a:ext cx="109728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3"/>
          <p:cNvSpPr/>
          <p:nvPr/>
        </p:nvSpPr>
        <p:spPr>
          <a:xfrm>
            <a:off x="42062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双人配合</a:t>
            </a:r>
            <a:endParaRPr lang="en-US" sz="1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114800"/>
            <a:ext cx="274320" cy="2743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852160" y="4069080"/>
            <a:ext cx="109728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0" name="Text 25"/>
          <p:cNvSpPr/>
          <p:nvPr/>
        </p:nvSpPr>
        <p:spPr>
          <a:xfrm>
            <a:off x="58521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3v3对战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114800"/>
            <a:ext cx="274320" cy="27432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498080" y="4069080"/>
            <a:ext cx="109728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3" name="Text 27"/>
          <p:cNvSpPr/>
          <p:nvPr/>
        </p:nvSpPr>
        <p:spPr>
          <a:xfrm>
            <a:off x="749808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展演🏆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每日通用课堂结构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43000"/>
            <a:ext cx="1051560" cy="2743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🏃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热身激活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动态拉伸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关节活动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趣味跑跳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19456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06040" y="1051560"/>
            <a:ext cx="196596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3240" y="1143000"/>
            <a:ext cx="1051560" cy="2743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0"/>
          <p:cNvSpPr/>
          <p:nvPr/>
        </p:nvSpPr>
        <p:spPr>
          <a:xfrm>
            <a:off x="3063240" y="1143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60604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69748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技能教学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97480" y="2468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分解动作示范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分组练习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个别指导纠错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94560"/>
            <a:ext cx="2286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54880" y="1051560"/>
            <a:ext cx="196596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12080" y="1143000"/>
            <a:ext cx="1051560" cy="2743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0" name="Text 16"/>
          <p:cNvSpPr/>
          <p:nvPr/>
        </p:nvSpPr>
        <p:spPr>
          <a:xfrm>
            <a:off x="5212080" y="1143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488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⚔️</a:t>
            </a:r>
            <a:endParaRPr lang="en-US" sz="3200" dirty="0"/>
          </a:p>
        </p:txBody>
      </p:sp>
      <p:sp>
        <p:nvSpPr>
          <p:cNvPr id="22" name="Text 18"/>
          <p:cNvSpPr/>
          <p:nvPr/>
        </p:nvSpPr>
        <p:spPr>
          <a:xfrm>
            <a:off x="484632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对战实践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46320" y="2468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双人传接/3v3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实战情境应用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积分竞赛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94560"/>
            <a:ext cx="228600" cy="2286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903720" y="1051560"/>
            <a:ext cx="196596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60920" y="1143000"/>
            <a:ext cx="105156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2"/>
          <p:cNvSpPr/>
          <p:nvPr/>
        </p:nvSpPr>
        <p:spPr>
          <a:xfrm>
            <a:off x="7360920" y="1143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903720" y="1463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29" name="Text 24"/>
          <p:cNvSpPr/>
          <p:nvPr/>
        </p:nvSpPr>
        <p:spPr>
          <a:xfrm>
            <a:off x="699516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小结反馈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995160" y="24688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亮点回顾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问题讨论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下节课预告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2" name="Text 27"/>
          <p:cNvSpPr/>
          <p:nvPr/>
        </p:nvSpPr>
        <p:spPr>
          <a:xfrm>
            <a:off x="7315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突发情况应对总则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731520" y="4434840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4434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轻微碰撞→冰敷观察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2834640" y="4434840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1"/>
          <p:cNvSpPr/>
          <p:nvPr/>
        </p:nvSpPr>
        <p:spPr>
          <a:xfrm>
            <a:off x="2834640" y="4434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情绪冲突→暂停安抚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937760" y="4434840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4937760" y="4434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器材损坏→备用替换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7040880" y="4434840"/>
            <a:ext cx="1874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5"/>
          <p:cNvSpPr/>
          <p:nvPr/>
        </p:nvSpPr>
        <p:spPr>
          <a:xfrm>
            <a:off x="7040880" y="44348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天气突变→转室内方案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 ─ 认识器材·个人探索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本课目标：了解勺球器材，建立球感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关节操+趣味跑动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持勺姿势、颠球练习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个人颠球计数挑战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分享感受，预告Day2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颠球时球滚远→划定练习区域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─ 基础抛接·单人练习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本课目标：掌握自抛自接基本动作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动态拉伸+反应游戏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垂直抛接、行进抛接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1分钟连续抛接计时赛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统计最佳成绩，表扬进步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球打到面部→改用软球先静立练习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 ─ 双人配合·传接入门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本课目标：学会双人传接配合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双人互抛练习（无勺）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面对面传接、距离递进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双人连续传接计数PK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最佳搭档评选，讨论技巧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配合不协调→缩短距离、降低速度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 ─ 团队协作·3v3对战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本课目标：体验团队配合与简单规则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团队接力跑+传接热身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3v3规则讲解、走位演示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3v3迷你对抗赛（2局）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积分公示，战术复盘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争抢冲撞→暂停比赛，重申安全规则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 ─ 战术配合·模拟比赛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本课目标：运用战术完成完整比赛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战术手势复习+跑位演练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进攻/防守分工，跑位配合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完整3v3模拟赛（3局）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赛后互评，角色轮换反馈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比分悬殊→调整队伍，鼓励落后方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D7A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6 ─ 成果展演·结课仪式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本课目标：展示学习成果，收获成就感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" y="214884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45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热身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集体勺球操表演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solidFill>
            <a:srgbClr val="3D7A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23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" y="292608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423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技能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展演彩排+最后调整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" y="370332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00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对战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3200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勺球展演赛（邀请观摩）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小结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颁奖仪式+合影留念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55280" y="822960"/>
            <a:ext cx="822960" cy="8229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突发情况应对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学生紧张→降低展示难度，强调参与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课堂安全与管理要点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920240" cy="1097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🚫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禁止挥舞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严禁用勺球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击打他人或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挥舞做危险动作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097280"/>
            <a:ext cx="192024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097280"/>
            <a:ext cx="1920240" cy="1097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📍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场地管理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划定清晰边界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非活动区器材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远离场地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192024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97280"/>
            <a:ext cx="1920240" cy="109728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📦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C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器材收纳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课前清点数量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课后统一回收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损坏及时报修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097280"/>
            <a:ext cx="1920240" cy="2743200"/>
          </a:xfrm>
          <a:prstGeom prst="rect">
            <a:avLst/>
          </a:prstGeom>
          <a:solidFill>
            <a:srgbClr val="F0F7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1097280"/>
            <a:ext cx="1920240" cy="109728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🩹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1323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应急处理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常备急救箱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掌握冰敷消毒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严重情况送医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安全口诀：勺球不朝人，跑动看前方，器材勤检查，平安每一堂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D254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2743200" cy="2743200"/>
          </a:xfrm>
          <a:prstGeom prst="ellipse">
            <a:avLst/>
          </a:prstGeom>
          <a:solidFill>
            <a:srgbClr val="0D254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🌟 课程设计亮点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875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游戏化教学——每节课都是一场闯关冒险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435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渐进式难度——从个人探索到团队竞技科学递进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385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19110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品格融入——合作、尊重、坚韧贯穿全程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41401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4480" y="2386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安全第一——器材、场地、应急三维保障体系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88950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54480" y="2862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成果可见——Day6展演让每一位学生站上舞台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9"/>
          <p:cNvSpPr/>
          <p:nvPr/>
        </p:nvSpPr>
        <p:spPr>
          <a:xfrm>
            <a:off x="9144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预期教学效果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0972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09728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学生掌握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基本勺球技能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36576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365760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零安全事故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快乐运动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2179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62179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学生表示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愿意继续参与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  ·  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ScOOP Ball 勺球课程教案</dc:title>
  <dc:subject>PptxGenJS Presentation</dc:subject>
  <dc:creator>小美</dc:creator>
  <cp:lastModifiedBy>小美</cp:lastModifiedBy>
  <cp:revision>1</cp:revision>
  <dcterms:created xsi:type="dcterms:W3CDTF">2026-06-28T08:26:38Z</dcterms:created>
  <dcterms:modified xsi:type="dcterms:W3CDTF">2026-06-28T08:26:38Z</dcterms:modified>
</cp:coreProperties>
</file>